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38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93192"/>
            <a:ext cx="5132880" cy="437043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2600" b="1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GTM D</a:t>
            </a:r>
            <a:r>
              <a:rPr lang="en-US" sz="2600" b="1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ATA QUALITY</a:t>
            </a:r>
            <a:r>
              <a:rPr sz="2600" b="1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 </a:t>
            </a:r>
            <a:r>
              <a:rPr lang="en-US" sz="2600" b="1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-</a:t>
            </a:r>
            <a:r>
              <a:rPr sz="2600" b="1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 A</a:t>
            </a:r>
            <a:r>
              <a:rPr lang="en-US" sz="2600" b="1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GENT</a:t>
            </a:r>
            <a:r>
              <a:rPr sz="2600" b="1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 S</a:t>
            </a:r>
            <a:r>
              <a:rPr lang="en-US" sz="2600" b="1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KILL</a:t>
            </a:r>
            <a:endParaRPr sz="2600" b="1" dirty="0">
              <a:solidFill>
                <a:schemeClr val="accent6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877824"/>
            <a:ext cx="9966960" cy="402336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350" b="0" dirty="0">
                <a:solidFill>
                  <a:srgbClr val="66707A"/>
                </a:solidFill>
                <a:latin typeface="Aptos"/>
              </a:rPr>
              <a:t>A small CSV-based prototype for finding GTM record issues and turning them into a reviewable cleanup list.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71780" y="243584"/>
            <a:ext cx="1138197" cy="183127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r"/>
            <a:r>
              <a:rPr sz="950" b="0" dirty="0">
                <a:solidFill>
                  <a:srgbClr val="66707A"/>
                </a:solidFill>
                <a:latin typeface="Aptos"/>
              </a:rPr>
              <a:t>Single-s</a:t>
            </a:r>
            <a:r>
              <a:rPr lang="en-US" sz="950" dirty="0">
                <a:solidFill>
                  <a:srgbClr val="66707A"/>
                </a:solidFill>
                <a:latin typeface="Aptos"/>
              </a:rPr>
              <a:t>l</a:t>
            </a:r>
            <a:r>
              <a:rPr sz="950" b="0" dirty="0">
                <a:solidFill>
                  <a:srgbClr val="66707A"/>
                </a:solidFill>
                <a:latin typeface="Aptos"/>
              </a:rPr>
              <a:t>ide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99032"/>
            <a:ext cx="1287917" cy="267766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500" b="1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W</a:t>
            </a:r>
            <a:r>
              <a:rPr lang="en-US" sz="1500" b="1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HY</a:t>
            </a:r>
            <a:r>
              <a:rPr sz="1500" b="1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 I </a:t>
            </a:r>
            <a:r>
              <a:rPr lang="en-US" sz="1500" b="1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BUILT</a:t>
            </a:r>
            <a:r>
              <a:rPr sz="1500" b="1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 </a:t>
            </a:r>
            <a:r>
              <a:rPr lang="en-US" sz="1500" b="1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IT</a:t>
            </a:r>
            <a:endParaRPr sz="1500" b="1" dirty="0">
              <a:solidFill>
                <a:schemeClr val="accent6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21792" y="1659300"/>
            <a:ext cx="5596128" cy="3847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374151"/>
                </a:solidFill>
                <a:latin typeface="Aptos"/>
              </a:defRPr>
            </a:pPr>
            <a:r>
              <a:rPr dirty="0"/>
              <a:t>• GTM teams depend on account and contact data for outreach, routing, segmentation, and reporting.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022852"/>
            <a:ext cx="5948172" cy="3847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374151"/>
                </a:solidFill>
                <a:latin typeface="Aptos"/>
              </a:defRPr>
            </a:pPr>
            <a:r>
              <a:rPr dirty="0"/>
              <a:t>• Missing, stale, duplicate, or conflicting fields create review work and can make downstream workflows less reliable.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398428"/>
            <a:ext cx="5423306" cy="3847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374151"/>
                </a:solidFill>
                <a:latin typeface="Aptos"/>
              </a:defRPr>
            </a:pPr>
            <a:r>
              <a:rPr dirty="0"/>
              <a:t>• The goal is not to auto-fix records; it is to surface evidence and make the next human action clear.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36283" y="1563624"/>
            <a:ext cx="3508551" cy="1069847"/>
          </a:xfrm>
          <a:prstGeom prst="roundRect">
            <a:avLst/>
          </a:prstGeom>
          <a:solidFill>
            <a:srgbClr val="FAF1ED"/>
          </a:solidFill>
          <a:ln w="12700">
            <a:solidFill>
              <a:srgbClr val="EBC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88857" y="1291006"/>
            <a:ext cx="1005840" cy="219456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DA633D"/>
                </a:solidFill>
                <a:latin typeface="Aptos"/>
              </a:rPr>
              <a:t>SAMPLE RUN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0550" y="1721688"/>
            <a:ext cx="1143000" cy="4114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2200" b="1" dirty="0">
                <a:solidFill>
                  <a:srgbClr val="1F2B3A"/>
                </a:solidFill>
                <a:latin typeface="Aptos"/>
              </a:rPr>
              <a:t>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47378" y="2133168"/>
            <a:ext cx="1234440" cy="25603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980" b="0" dirty="0">
                <a:solidFill>
                  <a:srgbClr val="66707A"/>
                </a:solidFill>
                <a:latin typeface="Aptos"/>
              </a:rPr>
              <a:t>records reviewed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1729170"/>
            <a:ext cx="1143000" cy="4114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2200" b="1" dirty="0">
                <a:solidFill>
                  <a:srgbClr val="1F2B3A"/>
                </a:solidFill>
                <a:latin typeface="Aptos"/>
              </a:rPr>
              <a:t>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0828" y="2139611"/>
            <a:ext cx="1234440" cy="25603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980" b="0" dirty="0">
                <a:solidFill>
                  <a:srgbClr val="66707A"/>
                </a:solidFill>
                <a:latin typeface="Aptos"/>
              </a:rPr>
              <a:t>records with findings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53623" y="1729170"/>
            <a:ext cx="1143000" cy="4114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2200" b="1" dirty="0">
                <a:solidFill>
                  <a:srgbClr val="1F2B3A"/>
                </a:solidFill>
                <a:latin typeface="Aptos"/>
              </a:rPr>
              <a:t>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3566" y="2124191"/>
            <a:ext cx="1234440" cy="25603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980" b="0" dirty="0">
                <a:solidFill>
                  <a:srgbClr val="66707A"/>
                </a:solidFill>
                <a:latin typeface="Aptos"/>
              </a:rPr>
              <a:t>total findings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0468" y="2960975"/>
            <a:ext cx="5184649" cy="26776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lang="en-US" sz="1500" b="1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HOW IT WORKS</a:t>
            </a:r>
            <a:endParaRPr sz="1500" b="1" dirty="0">
              <a:solidFill>
                <a:schemeClr val="accent6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550468" y="3280916"/>
            <a:ext cx="310896" cy="310896"/>
          </a:xfrm>
          <a:prstGeom prst="ellipse">
            <a:avLst/>
          </a:prstGeom>
          <a:solidFill>
            <a:srgbClr val="386491"/>
          </a:solidFill>
          <a:ln>
            <a:solidFill>
              <a:srgbClr val="386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1364" y="3346704"/>
            <a:ext cx="1463039" cy="25603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230" b="1" dirty="0">
                <a:solidFill>
                  <a:srgbClr val="1F2B3A"/>
                </a:solidFill>
                <a:latin typeface="Aptos"/>
              </a:rPr>
              <a:t>CSV source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1656" y="3595619"/>
            <a:ext cx="1402690" cy="52629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60" b="0" dirty="0">
                <a:solidFill>
                  <a:srgbClr val="374151"/>
                </a:solidFill>
                <a:latin typeface="Aptos"/>
              </a:rPr>
              <a:t>27 sample account/contact records</a:t>
            </a:r>
          </a:p>
        </p:txBody>
      </p:sp>
      <p:cxnSp>
        <p:nvCxnSpPr>
          <p:cNvPr id="22" name="Connector 21"/>
          <p:cNvCxnSpPr>
            <a:cxnSpLocks/>
          </p:cNvCxnSpPr>
          <p:nvPr/>
        </p:nvCxnSpPr>
        <p:spPr>
          <a:xfrm>
            <a:off x="2417672" y="3436364"/>
            <a:ext cx="118873" cy="0"/>
          </a:xfrm>
          <a:prstGeom prst="line">
            <a:avLst/>
          </a:prstGeom>
          <a:ln w="19050">
            <a:solidFill>
              <a:srgbClr val="D8D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2545484" y="3302862"/>
            <a:ext cx="310896" cy="310896"/>
          </a:xfrm>
          <a:prstGeom prst="ellipse">
            <a:avLst/>
          </a:prstGeom>
          <a:solidFill>
            <a:srgbClr val="386491"/>
          </a:solidFill>
          <a:ln>
            <a:solidFill>
              <a:srgbClr val="386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63088" y="3361334"/>
            <a:ext cx="1828800" cy="25603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230" b="1" dirty="0">
                <a:solidFill>
                  <a:srgbClr val="1F2B3A"/>
                </a:solidFill>
                <a:latin typeface="Aptos"/>
              </a:rPr>
              <a:t>Python checks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7918" y="3625615"/>
            <a:ext cx="1495958" cy="52629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60" b="0" dirty="0">
                <a:solidFill>
                  <a:srgbClr val="374151"/>
                </a:solidFill>
                <a:latin typeface="Aptos"/>
              </a:rPr>
              <a:t>Schema, missing fields, format, freshness, duplicates, conflicts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691888" y="3482035"/>
            <a:ext cx="118872" cy="0"/>
          </a:xfrm>
          <a:prstGeom prst="line">
            <a:avLst/>
          </a:prstGeom>
          <a:ln w="19050">
            <a:solidFill>
              <a:srgbClr val="D8D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4837175" y="3348435"/>
            <a:ext cx="310896" cy="310896"/>
          </a:xfrm>
          <a:prstGeom prst="ellipse">
            <a:avLst/>
          </a:prstGeom>
          <a:solidFill>
            <a:srgbClr val="386491"/>
          </a:solidFill>
          <a:ln>
            <a:solidFill>
              <a:srgbClr val="386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57216" y="3384622"/>
            <a:ext cx="1508760" cy="25603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230" b="1" dirty="0">
                <a:solidFill>
                  <a:srgbClr val="1F2B3A"/>
                </a:solidFill>
                <a:latin typeface="Aptos"/>
              </a:rPr>
              <a:t>Context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78068" y="3701737"/>
            <a:ext cx="1353312" cy="36317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60" b="0" dirty="0">
                <a:solidFill>
                  <a:srgbClr val="374151"/>
                </a:solidFill>
                <a:latin typeface="Aptos"/>
              </a:rPr>
              <a:t>Findings + relevant records in CSV/JSON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672683" y="3489350"/>
            <a:ext cx="118872" cy="0"/>
          </a:xfrm>
          <a:prstGeom prst="line">
            <a:avLst/>
          </a:prstGeom>
          <a:ln w="19050">
            <a:solidFill>
              <a:srgbClr val="D8D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115865" y="3384622"/>
            <a:ext cx="1920239" cy="25603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230" b="1" dirty="0">
                <a:solidFill>
                  <a:srgbClr val="1F2B3A"/>
                </a:solidFill>
                <a:latin typeface="Aptos"/>
              </a:rPr>
              <a:t>Agent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53710" y="3657638"/>
            <a:ext cx="1353312" cy="6894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60" b="0" dirty="0">
                <a:solidFill>
                  <a:srgbClr val="374151"/>
                </a:solidFill>
                <a:latin typeface="Aptos"/>
              </a:rPr>
              <a:t>Explain GTM impact, group issues, recommend next actions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910828" y="3518180"/>
            <a:ext cx="118872" cy="0"/>
          </a:xfrm>
          <a:prstGeom prst="line">
            <a:avLst/>
          </a:prstGeom>
          <a:ln w="19050">
            <a:solidFill>
              <a:srgbClr val="D8D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9036104" y="3384622"/>
            <a:ext cx="310896" cy="310896"/>
          </a:xfrm>
          <a:prstGeom prst="ellipse">
            <a:avLst/>
          </a:prstGeom>
          <a:solidFill>
            <a:srgbClr val="386491"/>
          </a:solidFill>
          <a:ln>
            <a:solidFill>
              <a:srgbClr val="386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76261" y="3428541"/>
            <a:ext cx="1371600" cy="25603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230" b="1" dirty="0">
                <a:solidFill>
                  <a:srgbClr val="1F2B3A"/>
                </a:solidFill>
                <a:latin typeface="Aptos"/>
              </a:rPr>
              <a:t>Human action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47532" y="3770384"/>
            <a:ext cx="1783080" cy="65836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060" b="0" dirty="0">
                <a:solidFill>
                  <a:srgbClr val="374151"/>
                </a:solidFill>
                <a:latin typeface="Aptos"/>
              </a:rPr>
              <a:t>Verify, fix, or leave unchanged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8472" y="5105725"/>
            <a:ext cx="5367528" cy="878739"/>
          </a:xfrm>
          <a:prstGeom prst="roundRect">
            <a:avLst/>
          </a:prstGeom>
          <a:solidFill>
            <a:srgbClr val="F6F7F9"/>
          </a:solidFill>
          <a:ln w="12700">
            <a:solidFill>
              <a:srgbClr val="D8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61364" y="5146872"/>
            <a:ext cx="804772" cy="20621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100" b="1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AI</a:t>
            </a:r>
            <a:r>
              <a:rPr lang="en-US" sz="1100" b="1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 </a:t>
            </a:r>
            <a:r>
              <a:rPr lang="en-US" sz="1100" b="1" dirty="0">
                <a:solidFill>
                  <a:srgbClr val="DA633D"/>
                </a:solidFill>
                <a:latin typeface="Aptos"/>
              </a:rPr>
              <a:t>boundary</a:t>
            </a:r>
            <a:endParaRPr sz="1100" b="1" dirty="0">
              <a:solidFill>
                <a:srgbClr val="DA633D"/>
              </a:solidFill>
              <a:latin typeface="Apto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45820" y="5369383"/>
            <a:ext cx="5148072" cy="55399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120" b="0" dirty="0">
                <a:solidFill>
                  <a:srgbClr val="374151"/>
                </a:solidFill>
                <a:latin typeface="Aptos"/>
              </a:rPr>
              <a:t>Python produces the evidence. The Agent Skill explains it, groups related issues, </a:t>
            </a:r>
            <a:endParaRPr lang="en-US" sz="1120" b="0" dirty="0">
              <a:solidFill>
                <a:srgbClr val="374151"/>
              </a:solidFill>
              <a:latin typeface="Aptos"/>
            </a:endParaRPr>
          </a:p>
          <a:p>
            <a:pPr algn="l"/>
            <a:r>
              <a:rPr sz="1120" b="0" dirty="0">
                <a:solidFill>
                  <a:srgbClr val="374151"/>
                </a:solidFill>
                <a:latin typeface="Aptos"/>
              </a:rPr>
              <a:t>and suggests what a human should verify. It does not decide what is true or change the CSV.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17843" y="5092289"/>
            <a:ext cx="4308654" cy="87874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624828" y="5203283"/>
            <a:ext cx="1488643" cy="20621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100" b="1" dirty="0">
                <a:solidFill>
                  <a:srgbClr val="DA633D"/>
                </a:solidFill>
                <a:latin typeface="Aptos"/>
              </a:rPr>
              <a:t>Findings in the sample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24828" y="5458968"/>
            <a:ext cx="4572000" cy="38404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120" b="0" dirty="0">
                <a:solidFill>
                  <a:srgbClr val="374151"/>
                </a:solidFill>
                <a:latin typeface="Aptos"/>
              </a:rPr>
              <a:t>Missing 6  ·  Invalid 2  ·  Stale 3  ·  Conflict 5  ·  Review 1  ·  Duplicate 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5779" y="6204165"/>
            <a:ext cx="8092440" cy="237744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940" b="0" dirty="0">
                <a:solidFill>
                  <a:srgbClr val="66707A"/>
                </a:solidFill>
                <a:latin typeface="Aptos"/>
              </a:rPr>
              <a:t>Deliberately out of scope for this POC: live CRM writes, automatic enrichment, fuzzy entity resolution, and automatic remediation.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87000" y="6254496"/>
            <a:ext cx="1298448" cy="237744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r"/>
            <a:r>
              <a:rPr sz="940" b="0">
                <a:solidFill>
                  <a:srgbClr val="66707A"/>
                </a:solidFill>
                <a:latin typeface="Aptos"/>
              </a:rPr>
              <a:t>GTM Data Quality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C4BD7AA-C8C1-5183-CCCE-61737D36E296}"/>
              </a:ext>
            </a:extLst>
          </p:cNvPr>
          <p:cNvCxnSpPr/>
          <p:nvPr/>
        </p:nvCxnSpPr>
        <p:spPr>
          <a:xfrm>
            <a:off x="1865376" y="3474720"/>
            <a:ext cx="38770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4AFE7A1-E9DB-981A-080A-0F62459304BC}"/>
              </a:ext>
            </a:extLst>
          </p:cNvPr>
          <p:cNvCxnSpPr/>
          <p:nvPr/>
        </p:nvCxnSpPr>
        <p:spPr>
          <a:xfrm>
            <a:off x="4103876" y="3492222"/>
            <a:ext cx="38770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FF4667C-0B94-B318-625F-5747CA15BBD0}"/>
              </a:ext>
            </a:extLst>
          </p:cNvPr>
          <p:cNvCxnSpPr/>
          <p:nvPr/>
        </p:nvCxnSpPr>
        <p:spPr>
          <a:xfrm>
            <a:off x="6096000" y="3518180"/>
            <a:ext cx="38770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3908969-0DCD-8C9A-981C-418B079FAD14}"/>
              </a:ext>
            </a:extLst>
          </p:cNvPr>
          <p:cNvCxnSpPr/>
          <p:nvPr/>
        </p:nvCxnSpPr>
        <p:spPr>
          <a:xfrm>
            <a:off x="8355786" y="3519961"/>
            <a:ext cx="38770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311D275B-2730-255E-B857-38892FED1EB9}"/>
              </a:ext>
            </a:extLst>
          </p:cNvPr>
          <p:cNvSpPr/>
          <p:nvPr/>
        </p:nvSpPr>
        <p:spPr>
          <a:xfrm>
            <a:off x="6798262" y="3346704"/>
            <a:ext cx="310896" cy="310896"/>
          </a:xfrm>
          <a:prstGeom prst="ellipse">
            <a:avLst/>
          </a:prstGeom>
          <a:solidFill>
            <a:srgbClr val="386491"/>
          </a:solidFill>
          <a:ln>
            <a:solidFill>
              <a:srgbClr val="386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Aptos"/>
              </a:rPr>
              <a:t>4</a:t>
            </a:r>
            <a:endParaRPr sz="10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993342F-A49B-A0E3-583B-6DE180A502F9}"/>
              </a:ext>
            </a:extLst>
          </p:cNvPr>
          <p:cNvSpPr txBox="1"/>
          <p:nvPr/>
        </p:nvSpPr>
        <p:spPr>
          <a:xfrm>
            <a:off x="581656" y="4264259"/>
            <a:ext cx="6499671" cy="22929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lang="en-US" sz="1250" b="1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Systems: </a:t>
            </a:r>
            <a:r>
              <a:rPr lang="en-US" sz="1250" dirty="0">
                <a:solidFill>
                  <a:srgbClr val="1F2B3A"/>
                </a:solidFill>
                <a:latin typeface="Aptos"/>
              </a:rPr>
              <a:t>CSV source      Python scripts      Agent Skill (SKILL.md)      Human review</a:t>
            </a:r>
            <a:endParaRPr sz="1250" dirty="0">
              <a:solidFill>
                <a:srgbClr val="1F2B3A"/>
              </a:solidFill>
              <a:latin typeface="Aptos"/>
            </a:endParaRP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6004B52F-CDCA-E5F8-4352-E542D8BD13C3}"/>
              </a:ext>
            </a:extLst>
          </p:cNvPr>
          <p:cNvCxnSpPr>
            <a:cxnSpLocks/>
          </p:cNvCxnSpPr>
          <p:nvPr/>
        </p:nvCxnSpPr>
        <p:spPr>
          <a:xfrm>
            <a:off x="2114093" y="4378906"/>
            <a:ext cx="13898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09D174B-4AF8-19C5-3F61-7ECDA30A1C36}"/>
              </a:ext>
            </a:extLst>
          </p:cNvPr>
          <p:cNvCxnSpPr>
            <a:cxnSpLocks/>
          </p:cNvCxnSpPr>
          <p:nvPr/>
        </p:nvCxnSpPr>
        <p:spPr>
          <a:xfrm>
            <a:off x="3299789" y="4378906"/>
            <a:ext cx="13898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A89B06E3-EB59-E8E7-7652-8BF28A20E19C}"/>
              </a:ext>
            </a:extLst>
          </p:cNvPr>
          <p:cNvCxnSpPr>
            <a:cxnSpLocks/>
          </p:cNvCxnSpPr>
          <p:nvPr/>
        </p:nvCxnSpPr>
        <p:spPr>
          <a:xfrm>
            <a:off x="4992623" y="4378906"/>
            <a:ext cx="13898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DFAC9C79-7A78-AEF4-D73D-F893DD741EBE}"/>
              </a:ext>
            </a:extLst>
          </p:cNvPr>
          <p:cNvSpPr/>
          <p:nvPr/>
        </p:nvSpPr>
        <p:spPr>
          <a:xfrm>
            <a:off x="621792" y="4527441"/>
            <a:ext cx="1278430" cy="43281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b="1" dirty="0">
                <a:latin typeface="Aptos" panose="020B0004020202020204" pitchFamily="34" charset="0"/>
              </a:rPr>
              <a:t>CSV data/gtm_accounts_contacts.csv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CF3CE8D7-CE5A-B66E-3FE1-A73177693717}"/>
              </a:ext>
            </a:extLst>
          </p:cNvPr>
          <p:cNvSpPr/>
          <p:nvPr/>
        </p:nvSpPr>
        <p:spPr>
          <a:xfrm>
            <a:off x="2275735" y="4522918"/>
            <a:ext cx="1278430" cy="43281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b="1" dirty="0">
                <a:latin typeface="Aptos" panose="020B0004020202020204" pitchFamily="34" charset="0"/>
              </a:rPr>
              <a:t>Python</a:t>
            </a:r>
          </a:p>
          <a:p>
            <a:pPr algn="ctr"/>
            <a:r>
              <a:rPr lang="en-US" sz="800" b="1" dirty="0">
                <a:latin typeface="Aptos" panose="020B0004020202020204" pitchFamily="34" charset="0"/>
              </a:rPr>
              <a:t>validate_data.py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F9797456-82F4-E323-D025-BCEF6C06151C}"/>
              </a:ext>
            </a:extLst>
          </p:cNvPr>
          <p:cNvSpPr/>
          <p:nvPr/>
        </p:nvSpPr>
        <p:spPr>
          <a:xfrm>
            <a:off x="3857196" y="4524179"/>
            <a:ext cx="1278430" cy="43281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b="1" dirty="0">
                <a:latin typeface="Aptos" panose="020B0004020202020204" pitchFamily="34" charset="0"/>
              </a:rPr>
              <a:t>Structured context audit_findings.csv + </a:t>
            </a:r>
            <a:r>
              <a:rPr lang="en-US" sz="800" b="1" dirty="0" err="1">
                <a:latin typeface="Aptos" panose="020B0004020202020204" pitchFamily="34" charset="0"/>
              </a:rPr>
              <a:t>ai_context.json</a:t>
            </a:r>
            <a:endParaRPr lang="en-US" sz="800" b="1" dirty="0">
              <a:latin typeface="Aptos" panose="020B0004020202020204" pitchFamily="34" charset="0"/>
            </a:endParaRP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9D9C1BDE-DCEB-FB06-79A6-40FBF6599FCA}"/>
              </a:ext>
            </a:extLst>
          </p:cNvPr>
          <p:cNvSpPr/>
          <p:nvPr/>
        </p:nvSpPr>
        <p:spPr>
          <a:xfrm>
            <a:off x="5412234" y="4498564"/>
            <a:ext cx="1278430" cy="43281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b="1" dirty="0">
                <a:latin typeface="Aptos" panose="020B0004020202020204" pitchFamily="34" charset="0"/>
              </a:rPr>
              <a:t>Agent Skill </a:t>
            </a:r>
          </a:p>
          <a:p>
            <a:pPr algn="ctr"/>
            <a:r>
              <a:rPr lang="en-US" sz="800" b="1" dirty="0">
                <a:latin typeface="Aptos" panose="020B0004020202020204" pitchFamily="34" charset="0"/>
              </a:rPr>
              <a:t>SKILL.md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80B89BCE-CDAD-E879-B3EF-D53CC03BE411}"/>
              </a:ext>
            </a:extLst>
          </p:cNvPr>
          <p:cNvCxnSpPr>
            <a:cxnSpLocks/>
          </p:cNvCxnSpPr>
          <p:nvPr/>
        </p:nvCxnSpPr>
        <p:spPr>
          <a:xfrm>
            <a:off x="5214517" y="4709571"/>
            <a:ext cx="13898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B8E0FFE6-64AA-DDAB-8FBE-9ED3515BEBCE}"/>
              </a:ext>
            </a:extLst>
          </p:cNvPr>
          <p:cNvCxnSpPr>
            <a:cxnSpLocks/>
          </p:cNvCxnSpPr>
          <p:nvPr/>
        </p:nvCxnSpPr>
        <p:spPr>
          <a:xfrm>
            <a:off x="3608751" y="4736688"/>
            <a:ext cx="16873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BCA3A558-1911-4F6B-B583-080B8F522073}"/>
              </a:ext>
            </a:extLst>
          </p:cNvPr>
          <p:cNvCxnSpPr>
            <a:cxnSpLocks/>
          </p:cNvCxnSpPr>
          <p:nvPr/>
        </p:nvCxnSpPr>
        <p:spPr>
          <a:xfrm>
            <a:off x="2014850" y="4736688"/>
            <a:ext cx="16873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D67F2AA6-097B-B31C-9569-1100F57FA9C5}"/>
              </a:ext>
            </a:extLst>
          </p:cNvPr>
          <p:cNvSpPr/>
          <p:nvPr/>
        </p:nvSpPr>
        <p:spPr>
          <a:xfrm>
            <a:off x="7056376" y="4489400"/>
            <a:ext cx="1278430" cy="43281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b="1" dirty="0">
                <a:latin typeface="Aptos" panose="020B0004020202020204" pitchFamily="34" charset="0"/>
              </a:rPr>
              <a:t>GTM review </a:t>
            </a:r>
          </a:p>
          <a:p>
            <a:pPr algn="ctr"/>
            <a:r>
              <a:rPr lang="en-US" sz="800" b="1" dirty="0">
                <a:latin typeface="Aptos" panose="020B0004020202020204" pitchFamily="34" charset="0"/>
              </a:rPr>
              <a:t>Human approval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C49DEA20-5624-074A-AFFE-792C9C00A751}"/>
              </a:ext>
            </a:extLst>
          </p:cNvPr>
          <p:cNvCxnSpPr>
            <a:cxnSpLocks/>
          </p:cNvCxnSpPr>
          <p:nvPr/>
        </p:nvCxnSpPr>
        <p:spPr>
          <a:xfrm>
            <a:off x="6791555" y="4691636"/>
            <a:ext cx="13898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307</Words>
  <Application>Microsoft Office PowerPoint</Application>
  <PresentationFormat>Widescreen</PresentationFormat>
  <Paragraphs>46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Naveen Chintapatla</cp:lastModifiedBy>
  <cp:revision>5</cp:revision>
  <dcterms:created xsi:type="dcterms:W3CDTF">2013-01-27T09:14:16Z</dcterms:created>
  <dcterms:modified xsi:type="dcterms:W3CDTF">2026-09-24T23:48:37Z</dcterms:modified>
  <cp:category/>
</cp:coreProperties>
</file>